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92" r:id="rId4"/>
    <p:sldId id="293" r:id="rId5"/>
    <p:sldId id="294" r:id="rId6"/>
    <p:sldId id="291" r:id="rId7"/>
    <p:sldId id="264" r:id="rId8"/>
    <p:sldId id="265" r:id="rId9"/>
    <p:sldId id="267" r:id="rId10"/>
    <p:sldId id="274" r:id="rId11"/>
    <p:sldId id="290" r:id="rId12"/>
    <p:sldId id="276" r:id="rId13"/>
    <p:sldId id="277" r:id="rId14"/>
    <p:sldId id="279" r:id="rId15"/>
    <p:sldId id="281" r:id="rId16"/>
    <p:sldId id="280" r:id="rId17"/>
    <p:sldId id="282" r:id="rId18"/>
    <p:sldId id="285" r:id="rId19"/>
    <p:sldId id="284" r:id="rId20"/>
    <p:sldId id="295" r:id="rId21"/>
    <p:sldId id="287" r:id="rId22"/>
    <p:sldId id="296" r:id="rId23"/>
    <p:sldId id="297" r:id="rId24"/>
    <p:sldId id="288" r:id="rId25"/>
    <p:sldId id="289" r:id="rId26"/>
    <p:sldId id="298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0667" autoAdjust="0"/>
  </p:normalViewPr>
  <p:slideViewPr>
    <p:cSldViewPr snapToGrid="0">
      <p:cViewPr varScale="1">
        <p:scale>
          <a:sx n="100" d="100"/>
          <a:sy n="100" d="100"/>
        </p:scale>
        <p:origin x="7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50B48-2E8D-4069-8F1B-936849ABC13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899B4-1098-4F84-AEB6-6F85830C97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56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2899B4-1098-4F84-AEB6-6F85830C970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1153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2899B4-1098-4F84-AEB6-6F85830C970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1298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2899B4-1098-4F84-AEB6-6F85830C970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863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2899B4-1098-4F84-AEB6-6F85830C970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4805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899B4-1098-4F84-AEB6-6F85830C970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4318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https://getbootstrap.com/docs/5.2/forms/form-control/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2899B4-1098-4F84-AEB6-6F85830C970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221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https://getbootstrap.com/docs/5.2/forms/form-control/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2899B4-1098-4F84-AEB6-6F85830C970F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325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https://getbootstrap.com/docs/5.2/forms/form-control/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2899B4-1098-4F84-AEB6-6F85830C970F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4643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2899B4-1098-4F84-AEB6-6F85830C970F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076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0AF6B-2028-41BA-9F17-92D2557288C2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7A05-2F3F-4644-99AE-529754166B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310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0AF6B-2028-41BA-9F17-92D2557288C2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7A05-2F3F-4644-99AE-529754166BA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/>
          <p:cNvSpPr/>
          <p:nvPr userDrawn="1"/>
        </p:nvSpPr>
        <p:spPr>
          <a:xfrm>
            <a:off x="0" y="0"/>
            <a:ext cx="2934269" cy="232012"/>
          </a:xfrm>
          <a:prstGeom prst="rect">
            <a:avLst/>
          </a:prstGeom>
          <a:solidFill>
            <a:srgbClr val="99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9195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0AF6B-2028-41BA-9F17-92D2557288C2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7A05-2F3F-4644-99AE-529754166B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423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0AF6B-2028-41BA-9F17-92D2557288C2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7A05-2F3F-4644-99AE-529754166B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620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0AF6B-2028-41BA-9F17-92D2557288C2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7A05-2F3F-4644-99AE-529754166BAB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Retângulo 9"/>
          <p:cNvSpPr/>
          <p:nvPr userDrawn="1"/>
        </p:nvSpPr>
        <p:spPr>
          <a:xfrm>
            <a:off x="0" y="0"/>
            <a:ext cx="2934269" cy="232012"/>
          </a:xfrm>
          <a:prstGeom prst="rect">
            <a:avLst/>
          </a:prstGeom>
          <a:solidFill>
            <a:srgbClr val="99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101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0AF6B-2028-41BA-9F17-92D2557288C2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7A05-2F3F-4644-99AE-529754166BAB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Retângulo 5"/>
          <p:cNvSpPr/>
          <p:nvPr userDrawn="1"/>
        </p:nvSpPr>
        <p:spPr>
          <a:xfrm>
            <a:off x="0" y="0"/>
            <a:ext cx="2934269" cy="232012"/>
          </a:xfrm>
          <a:prstGeom prst="rect">
            <a:avLst/>
          </a:prstGeom>
          <a:solidFill>
            <a:srgbClr val="99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686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0AF6B-2028-41BA-9F17-92D2557288C2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7A05-2F3F-4644-99AE-529754166BAB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Retângulo 4"/>
          <p:cNvSpPr/>
          <p:nvPr userDrawn="1"/>
        </p:nvSpPr>
        <p:spPr>
          <a:xfrm>
            <a:off x="0" y="0"/>
            <a:ext cx="2934269" cy="232012"/>
          </a:xfrm>
          <a:prstGeom prst="rect">
            <a:avLst/>
          </a:prstGeom>
          <a:solidFill>
            <a:srgbClr val="99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85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0AF6B-2028-41BA-9F17-92D2557288C2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7A05-2F3F-4644-99AE-529754166B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3615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0AF6B-2028-41BA-9F17-92D2557288C2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7A05-2F3F-4644-99AE-529754166B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4925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0AF6B-2028-41BA-9F17-92D2557288C2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7A05-2F3F-4644-99AE-529754166B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564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0AF6B-2028-41BA-9F17-92D2557288C2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7A05-2F3F-4644-99AE-529754166B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277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0AF6B-2028-41BA-9F17-92D2557288C2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57A05-2F3F-4644-99AE-529754166B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124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28625"/>
            <a:ext cx="11430000" cy="600075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81000" y="428625"/>
            <a:ext cx="11430000" cy="1031685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Britannic Bold" panose="020B0903060703020204" pitchFamily="34" charset="0"/>
              </a:rPr>
              <a:t>Bootstrap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601494"/>
            <a:ext cx="9144000" cy="567294"/>
          </a:xfrm>
        </p:spPr>
        <p:txBody>
          <a:bodyPr/>
          <a:lstStyle/>
          <a:p>
            <a:r>
              <a:rPr lang="pt-BR" b="1" dirty="0" err="1">
                <a:solidFill>
                  <a:schemeClr val="bg1"/>
                </a:solidFill>
                <a:latin typeface="Bodoni MT" panose="02070603080606020203" pitchFamily="18" charset="0"/>
              </a:rPr>
              <a:t>Profª</a:t>
            </a:r>
            <a:r>
              <a:rPr lang="pt-BR" b="1" dirty="0">
                <a:solidFill>
                  <a:schemeClr val="bg1"/>
                </a:solidFill>
                <a:latin typeface="Bodoni MT" panose="02070603080606020203" pitchFamily="18" charset="0"/>
              </a:rPr>
              <a:t> </a:t>
            </a:r>
            <a:r>
              <a:rPr lang="pt-BR" b="1" dirty="0" err="1">
                <a:solidFill>
                  <a:schemeClr val="bg1"/>
                </a:solidFill>
                <a:latin typeface="Bodoni MT" panose="02070603080606020203" pitchFamily="18" charset="0"/>
              </a:rPr>
              <a:t>Daiani</a:t>
            </a:r>
            <a:r>
              <a:rPr lang="pt-BR" b="1" dirty="0">
                <a:solidFill>
                  <a:schemeClr val="bg1"/>
                </a:solidFill>
                <a:latin typeface="Bodoni MT" panose="02070603080606020203" pitchFamily="18" charset="0"/>
              </a:rPr>
              <a:t> Melo</a:t>
            </a:r>
          </a:p>
        </p:txBody>
      </p:sp>
    </p:spTree>
    <p:extLst>
      <p:ext uri="{BB962C8B-B14F-4D97-AF65-F5344CB8AC3E}">
        <p14:creationId xmlns:p14="http://schemas.microsoft.com/office/powerpoint/2010/main" val="4128984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Introdução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Bootstrap é um dos mais famosos frameworks HTML, CSS e </a:t>
            </a:r>
            <a:r>
              <a:rPr lang="pt-BR" dirty="0" err="1"/>
              <a:t>JavaScript</a:t>
            </a:r>
            <a:r>
              <a:rPr lang="pt-BR" dirty="0"/>
              <a:t> utilizados para desenvolvimento de websites </a:t>
            </a:r>
            <a:r>
              <a:rPr lang="pt-BR" dirty="0" err="1"/>
              <a:t>responsíveis</a:t>
            </a:r>
            <a:r>
              <a:rPr lang="pt-BR" dirty="0"/>
              <a:t>. Bootstrap foi criado por Mark Otto (@</a:t>
            </a:r>
            <a:r>
              <a:rPr lang="pt-BR" dirty="0" err="1"/>
              <a:t>mdo</a:t>
            </a:r>
            <a:r>
              <a:rPr lang="pt-BR" dirty="0"/>
              <a:t>) e Jacob Thornton (@</a:t>
            </a:r>
            <a:r>
              <a:rPr lang="pt-BR" dirty="0" err="1"/>
              <a:t>fat</a:t>
            </a:r>
            <a:r>
              <a:rPr lang="pt-BR" dirty="0"/>
              <a:t>) no </a:t>
            </a:r>
            <a:r>
              <a:rPr lang="pt-BR" dirty="0" err="1"/>
              <a:t>Twitter</a:t>
            </a:r>
            <a:r>
              <a:rPr lang="pt-BR" dirty="0"/>
              <a:t> em meados de 2010. Em 2011 foi liberado ao público como um framework de código aberto.</a:t>
            </a:r>
          </a:p>
          <a:p>
            <a:r>
              <a:rPr lang="pt-BR" dirty="0"/>
              <a:t>Bootstrap contém um conjunto de componentes desenvolvidos por designers e programadores, que facilitam e aceleram o desenvolvimento de websites com belas interfaces. Bootstrap permite que um mesmo site possa ser executado em computadores desktop, laptops, celulares e tabletes.</a:t>
            </a:r>
          </a:p>
        </p:txBody>
      </p:sp>
    </p:spTree>
    <p:extLst>
      <p:ext uri="{BB962C8B-B14F-4D97-AF65-F5344CB8AC3E}">
        <p14:creationId xmlns:p14="http://schemas.microsoft.com/office/powerpoint/2010/main" val="644690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E70CBED-F333-4556-BE70-62C074CDF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48" y="753035"/>
            <a:ext cx="7475352" cy="5076545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E7A01C75-14A6-40B5-84D0-1B08B3DF4226}"/>
              </a:ext>
            </a:extLst>
          </p:cNvPr>
          <p:cNvGrpSpPr/>
          <p:nvPr/>
        </p:nvGrpSpPr>
        <p:grpSpPr>
          <a:xfrm>
            <a:off x="717176" y="376520"/>
            <a:ext cx="6320122" cy="313765"/>
            <a:chOff x="717176" y="376520"/>
            <a:chExt cx="6320122" cy="313765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F1DEA139-F77C-455F-8718-F5B4FBFA1133}"/>
                </a:ext>
              </a:extLst>
            </p:cNvPr>
            <p:cNvSpPr/>
            <p:nvPr/>
          </p:nvSpPr>
          <p:spPr>
            <a:xfrm>
              <a:off x="717176" y="40341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63ADE1EF-9280-4CA3-817C-0B12ECAE584A}"/>
                </a:ext>
              </a:extLst>
            </p:cNvPr>
            <p:cNvSpPr/>
            <p:nvPr/>
          </p:nvSpPr>
          <p:spPr>
            <a:xfrm>
              <a:off x="1299882" y="394448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2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ED81130-2E52-4DC9-BA0B-C15C168283B5}"/>
                </a:ext>
              </a:extLst>
            </p:cNvPr>
            <p:cNvSpPr/>
            <p:nvPr/>
          </p:nvSpPr>
          <p:spPr>
            <a:xfrm>
              <a:off x="1810870" y="40341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3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88C377E5-0C42-4189-BC1F-12CDFF2C9FF1}"/>
                </a:ext>
              </a:extLst>
            </p:cNvPr>
            <p:cNvSpPr/>
            <p:nvPr/>
          </p:nvSpPr>
          <p:spPr>
            <a:xfrm>
              <a:off x="2393576" y="40341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4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2871193D-AB89-46E0-B74B-E68AEBEBA8D0}"/>
                </a:ext>
              </a:extLst>
            </p:cNvPr>
            <p:cNvSpPr/>
            <p:nvPr/>
          </p:nvSpPr>
          <p:spPr>
            <a:xfrm>
              <a:off x="2904564" y="412379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5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AFF2F256-2FAB-459E-9AF7-E68DD418621A}"/>
                </a:ext>
              </a:extLst>
            </p:cNvPr>
            <p:cNvSpPr/>
            <p:nvPr/>
          </p:nvSpPr>
          <p:spPr>
            <a:xfrm>
              <a:off x="3473823" y="376520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6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3E8E1E1A-B5B0-457B-A523-5D92A9EEAFC8}"/>
                </a:ext>
              </a:extLst>
            </p:cNvPr>
            <p:cNvSpPr/>
            <p:nvPr/>
          </p:nvSpPr>
          <p:spPr>
            <a:xfrm>
              <a:off x="4031876" y="376523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7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33995646-1C02-472C-831D-6B63B6E14858}"/>
                </a:ext>
              </a:extLst>
            </p:cNvPr>
            <p:cNvSpPr/>
            <p:nvPr/>
          </p:nvSpPr>
          <p:spPr>
            <a:xfrm>
              <a:off x="4563034" y="394448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8</a:t>
              </a: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3CA1D71C-CD9C-4DC1-82F1-BE18E279F7C1}"/>
                </a:ext>
              </a:extLst>
            </p:cNvPr>
            <p:cNvSpPr/>
            <p:nvPr/>
          </p:nvSpPr>
          <p:spPr>
            <a:xfrm>
              <a:off x="5141258" y="39445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9</a:t>
              </a: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DCBBDABC-70A7-4FA9-B762-75B99206D5C0}"/>
                </a:ext>
              </a:extLst>
            </p:cNvPr>
            <p:cNvSpPr/>
            <p:nvPr/>
          </p:nvSpPr>
          <p:spPr>
            <a:xfrm>
              <a:off x="5688106" y="376520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dirty="0"/>
                <a:t>10</a:t>
              </a: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1CA4384B-B943-471A-A7D9-FF8E50F226BD}"/>
                </a:ext>
              </a:extLst>
            </p:cNvPr>
            <p:cNvSpPr/>
            <p:nvPr/>
          </p:nvSpPr>
          <p:spPr>
            <a:xfrm>
              <a:off x="6214783" y="376520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dirty="0"/>
                <a:t>11</a:t>
              </a: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B58BA81-188C-489D-AB5D-7E3C49C5B2BB}"/>
                </a:ext>
              </a:extLst>
            </p:cNvPr>
            <p:cNvSpPr/>
            <p:nvPr/>
          </p:nvSpPr>
          <p:spPr>
            <a:xfrm>
              <a:off x="6759392" y="412379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dirty="0"/>
                <a:t>12</a:t>
              </a:r>
            </a:p>
          </p:txBody>
        </p: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C20AD6D-A71F-49E5-B3D7-93754CFA80C4}"/>
              </a:ext>
            </a:extLst>
          </p:cNvPr>
          <p:cNvSpPr txBox="1"/>
          <p:nvPr/>
        </p:nvSpPr>
        <p:spPr>
          <a:xfrm>
            <a:off x="7978588" y="1380565"/>
            <a:ext cx="34424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12 colunas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D1C0B12-F749-4386-9141-D523E8077FB9}"/>
              </a:ext>
            </a:extLst>
          </p:cNvPr>
          <p:cNvSpPr/>
          <p:nvPr/>
        </p:nvSpPr>
        <p:spPr>
          <a:xfrm>
            <a:off x="717176" y="1028420"/>
            <a:ext cx="6320122" cy="1649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34F394A-9A90-4A0E-B227-1CCE29475CB0}"/>
              </a:ext>
            </a:extLst>
          </p:cNvPr>
          <p:cNvSpPr/>
          <p:nvPr/>
        </p:nvSpPr>
        <p:spPr>
          <a:xfrm>
            <a:off x="7878830" y="242066"/>
            <a:ext cx="364195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Sistema de Grades</a:t>
            </a:r>
          </a:p>
        </p:txBody>
      </p:sp>
    </p:spTree>
    <p:extLst>
      <p:ext uri="{BB962C8B-B14F-4D97-AF65-F5344CB8AC3E}">
        <p14:creationId xmlns:p14="http://schemas.microsoft.com/office/powerpoint/2010/main" val="745115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E70CBED-F333-4556-BE70-62C074CDF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48" y="753035"/>
            <a:ext cx="7475352" cy="507654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E3E1F63-DFBF-45AB-84BB-16A00658D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379" y="4063253"/>
            <a:ext cx="4763621" cy="1396501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E7A01C75-14A6-40B5-84D0-1B08B3DF4226}"/>
              </a:ext>
            </a:extLst>
          </p:cNvPr>
          <p:cNvGrpSpPr/>
          <p:nvPr/>
        </p:nvGrpSpPr>
        <p:grpSpPr>
          <a:xfrm>
            <a:off x="717176" y="376520"/>
            <a:ext cx="6320122" cy="313765"/>
            <a:chOff x="717176" y="376520"/>
            <a:chExt cx="6320122" cy="313765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F1DEA139-F77C-455F-8718-F5B4FBFA1133}"/>
                </a:ext>
              </a:extLst>
            </p:cNvPr>
            <p:cNvSpPr/>
            <p:nvPr/>
          </p:nvSpPr>
          <p:spPr>
            <a:xfrm>
              <a:off x="717176" y="40341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63ADE1EF-9280-4CA3-817C-0B12ECAE584A}"/>
                </a:ext>
              </a:extLst>
            </p:cNvPr>
            <p:cNvSpPr/>
            <p:nvPr/>
          </p:nvSpPr>
          <p:spPr>
            <a:xfrm>
              <a:off x="1299882" y="394448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2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ED81130-2E52-4DC9-BA0B-C15C168283B5}"/>
                </a:ext>
              </a:extLst>
            </p:cNvPr>
            <p:cNvSpPr/>
            <p:nvPr/>
          </p:nvSpPr>
          <p:spPr>
            <a:xfrm>
              <a:off x="1810870" y="40341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3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88C377E5-0C42-4189-BC1F-12CDFF2C9FF1}"/>
                </a:ext>
              </a:extLst>
            </p:cNvPr>
            <p:cNvSpPr/>
            <p:nvPr/>
          </p:nvSpPr>
          <p:spPr>
            <a:xfrm>
              <a:off x="2393576" y="40341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4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2871193D-AB89-46E0-B74B-E68AEBEBA8D0}"/>
                </a:ext>
              </a:extLst>
            </p:cNvPr>
            <p:cNvSpPr/>
            <p:nvPr/>
          </p:nvSpPr>
          <p:spPr>
            <a:xfrm>
              <a:off x="2904564" y="412379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5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AFF2F256-2FAB-459E-9AF7-E68DD418621A}"/>
                </a:ext>
              </a:extLst>
            </p:cNvPr>
            <p:cNvSpPr/>
            <p:nvPr/>
          </p:nvSpPr>
          <p:spPr>
            <a:xfrm>
              <a:off x="3473823" y="376520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6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3E8E1E1A-B5B0-457B-A523-5D92A9EEAFC8}"/>
                </a:ext>
              </a:extLst>
            </p:cNvPr>
            <p:cNvSpPr/>
            <p:nvPr/>
          </p:nvSpPr>
          <p:spPr>
            <a:xfrm>
              <a:off x="4031876" y="376523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7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33995646-1C02-472C-831D-6B63B6E14858}"/>
                </a:ext>
              </a:extLst>
            </p:cNvPr>
            <p:cNvSpPr/>
            <p:nvPr/>
          </p:nvSpPr>
          <p:spPr>
            <a:xfrm>
              <a:off x="4563034" y="394448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8</a:t>
              </a: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3CA1D71C-CD9C-4DC1-82F1-BE18E279F7C1}"/>
                </a:ext>
              </a:extLst>
            </p:cNvPr>
            <p:cNvSpPr/>
            <p:nvPr/>
          </p:nvSpPr>
          <p:spPr>
            <a:xfrm>
              <a:off x="5141258" y="39445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9</a:t>
              </a: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DCBBDABC-70A7-4FA9-B762-75B99206D5C0}"/>
                </a:ext>
              </a:extLst>
            </p:cNvPr>
            <p:cNvSpPr/>
            <p:nvPr/>
          </p:nvSpPr>
          <p:spPr>
            <a:xfrm>
              <a:off x="5688106" y="376520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dirty="0"/>
                <a:t>10</a:t>
              </a: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1CA4384B-B943-471A-A7D9-FF8E50F226BD}"/>
                </a:ext>
              </a:extLst>
            </p:cNvPr>
            <p:cNvSpPr/>
            <p:nvPr/>
          </p:nvSpPr>
          <p:spPr>
            <a:xfrm>
              <a:off x="6214783" y="376520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dirty="0"/>
                <a:t>11</a:t>
              </a: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B58BA81-188C-489D-AB5D-7E3C49C5B2BB}"/>
                </a:ext>
              </a:extLst>
            </p:cNvPr>
            <p:cNvSpPr/>
            <p:nvPr/>
          </p:nvSpPr>
          <p:spPr>
            <a:xfrm>
              <a:off x="6759392" y="412379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dirty="0"/>
                <a:t>12</a:t>
              </a:r>
            </a:p>
          </p:txBody>
        </p: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C20AD6D-A71F-49E5-B3D7-93754CFA80C4}"/>
              </a:ext>
            </a:extLst>
          </p:cNvPr>
          <p:cNvSpPr txBox="1"/>
          <p:nvPr/>
        </p:nvSpPr>
        <p:spPr>
          <a:xfrm>
            <a:off x="7978588" y="1380565"/>
            <a:ext cx="34424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12 colunas</a:t>
            </a:r>
          </a:p>
          <a:p>
            <a:r>
              <a:rPr lang="pt-BR" dirty="0"/>
              <a:t>2 áreas</a:t>
            </a:r>
          </a:p>
          <a:p>
            <a:endParaRPr lang="pt-BR" dirty="0"/>
          </a:p>
          <a:p>
            <a:r>
              <a:rPr lang="pt-BR" dirty="0"/>
              <a:t>? Colunas para cada área</a:t>
            </a:r>
          </a:p>
          <a:p>
            <a:endParaRPr lang="pt-BR" dirty="0"/>
          </a:p>
          <a:p>
            <a:r>
              <a:rPr lang="pt-BR" dirty="0"/>
              <a:t>12/2 = 6 colunas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D1C0B12-F749-4386-9141-D523E8077FB9}"/>
              </a:ext>
            </a:extLst>
          </p:cNvPr>
          <p:cNvSpPr/>
          <p:nvPr/>
        </p:nvSpPr>
        <p:spPr>
          <a:xfrm>
            <a:off x="717176" y="1398246"/>
            <a:ext cx="3034553" cy="1649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74D1E55-3496-4159-A785-8AE263B3CA81}"/>
              </a:ext>
            </a:extLst>
          </p:cNvPr>
          <p:cNvSpPr/>
          <p:nvPr/>
        </p:nvSpPr>
        <p:spPr>
          <a:xfrm>
            <a:off x="4002745" y="1380565"/>
            <a:ext cx="3034553" cy="16497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11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E70CBED-F333-4556-BE70-62C074CDF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48" y="753035"/>
            <a:ext cx="7475352" cy="507654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4AB3214-382B-4673-92D0-B22ABF391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4472035"/>
            <a:ext cx="4572000" cy="1456151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E2F9BF08-C5FB-418B-A232-7EC0106A89F0}"/>
              </a:ext>
            </a:extLst>
          </p:cNvPr>
          <p:cNvGrpSpPr/>
          <p:nvPr/>
        </p:nvGrpSpPr>
        <p:grpSpPr>
          <a:xfrm>
            <a:off x="717176" y="376520"/>
            <a:ext cx="6320122" cy="313765"/>
            <a:chOff x="717176" y="376520"/>
            <a:chExt cx="6320122" cy="313765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91AC4359-CD9D-49BA-B737-55947667A24A}"/>
                </a:ext>
              </a:extLst>
            </p:cNvPr>
            <p:cNvSpPr/>
            <p:nvPr/>
          </p:nvSpPr>
          <p:spPr>
            <a:xfrm>
              <a:off x="717176" y="40341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E284926A-7FCE-449A-967C-6D376E25AAD3}"/>
                </a:ext>
              </a:extLst>
            </p:cNvPr>
            <p:cNvSpPr/>
            <p:nvPr/>
          </p:nvSpPr>
          <p:spPr>
            <a:xfrm>
              <a:off x="1299882" y="394448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2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40C845-E851-4B1E-8B64-D4838AC48DB3}"/>
                </a:ext>
              </a:extLst>
            </p:cNvPr>
            <p:cNvSpPr/>
            <p:nvPr/>
          </p:nvSpPr>
          <p:spPr>
            <a:xfrm>
              <a:off x="1810870" y="40341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3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EE075C02-2737-4FFF-A96C-7F09A19A4B86}"/>
                </a:ext>
              </a:extLst>
            </p:cNvPr>
            <p:cNvSpPr/>
            <p:nvPr/>
          </p:nvSpPr>
          <p:spPr>
            <a:xfrm>
              <a:off x="2393576" y="40341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4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923AAFB5-36C2-417E-BD6D-FF2B7E9B167E}"/>
                </a:ext>
              </a:extLst>
            </p:cNvPr>
            <p:cNvSpPr/>
            <p:nvPr/>
          </p:nvSpPr>
          <p:spPr>
            <a:xfrm>
              <a:off x="2904564" y="412379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5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7B1F98B3-68BA-44D6-8A7F-67C7A9434613}"/>
                </a:ext>
              </a:extLst>
            </p:cNvPr>
            <p:cNvSpPr/>
            <p:nvPr/>
          </p:nvSpPr>
          <p:spPr>
            <a:xfrm>
              <a:off x="3473823" y="376520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6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EC5A9AC3-534F-4710-8C30-4A990DA4BE96}"/>
                </a:ext>
              </a:extLst>
            </p:cNvPr>
            <p:cNvSpPr/>
            <p:nvPr/>
          </p:nvSpPr>
          <p:spPr>
            <a:xfrm>
              <a:off x="4031876" y="376523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7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DB16D223-2CF9-4C32-83B6-461E04CA546C}"/>
                </a:ext>
              </a:extLst>
            </p:cNvPr>
            <p:cNvSpPr/>
            <p:nvPr/>
          </p:nvSpPr>
          <p:spPr>
            <a:xfrm>
              <a:off x="4563034" y="394448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8</a:t>
              </a: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9FA5D327-2CC1-4D6B-AF1D-688C240F03FE}"/>
                </a:ext>
              </a:extLst>
            </p:cNvPr>
            <p:cNvSpPr/>
            <p:nvPr/>
          </p:nvSpPr>
          <p:spPr>
            <a:xfrm>
              <a:off x="5141258" y="39445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9</a:t>
              </a: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783D6BC9-D2A1-49BC-A65B-72A32D8C9888}"/>
                </a:ext>
              </a:extLst>
            </p:cNvPr>
            <p:cNvSpPr/>
            <p:nvPr/>
          </p:nvSpPr>
          <p:spPr>
            <a:xfrm>
              <a:off x="5688106" y="376520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dirty="0"/>
                <a:t>10</a:t>
              </a: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9AE67E1A-82F4-4B94-A23D-F032C5BBD427}"/>
                </a:ext>
              </a:extLst>
            </p:cNvPr>
            <p:cNvSpPr/>
            <p:nvPr/>
          </p:nvSpPr>
          <p:spPr>
            <a:xfrm>
              <a:off x="6214783" y="376520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dirty="0"/>
                <a:t>11</a:t>
              </a: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53159F74-1425-4F05-AC5B-CDD9C4C79E4B}"/>
                </a:ext>
              </a:extLst>
            </p:cNvPr>
            <p:cNvSpPr/>
            <p:nvPr/>
          </p:nvSpPr>
          <p:spPr>
            <a:xfrm>
              <a:off x="6759392" y="412379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dirty="0"/>
                <a:t>12</a:t>
              </a:r>
            </a:p>
          </p:txBody>
        </p:sp>
      </p:grpSp>
      <p:sp>
        <p:nvSpPr>
          <p:cNvPr id="19" name="Retângulo 18">
            <a:extLst>
              <a:ext uri="{FF2B5EF4-FFF2-40B4-BE49-F238E27FC236}">
                <a16:creationId xmlns:a16="http://schemas.microsoft.com/office/drawing/2014/main" id="{B5FCE819-8F97-4966-82FF-DCD2143F51BD}"/>
              </a:ext>
            </a:extLst>
          </p:cNvPr>
          <p:cNvSpPr/>
          <p:nvPr/>
        </p:nvSpPr>
        <p:spPr>
          <a:xfrm>
            <a:off x="7996521" y="1525832"/>
            <a:ext cx="340658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12 colunas</a:t>
            </a:r>
          </a:p>
          <a:p>
            <a:r>
              <a:rPr lang="pt-BR" dirty="0"/>
              <a:t>4 áreas</a:t>
            </a:r>
          </a:p>
          <a:p>
            <a:endParaRPr lang="pt-BR" dirty="0"/>
          </a:p>
          <a:p>
            <a:r>
              <a:rPr lang="pt-BR" dirty="0"/>
              <a:t>? Colunas para cada área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12/4 = 3 colunas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0C804B1-856F-4F06-9349-BD86390B0829}"/>
              </a:ext>
            </a:extLst>
          </p:cNvPr>
          <p:cNvSpPr/>
          <p:nvPr/>
        </p:nvSpPr>
        <p:spPr>
          <a:xfrm>
            <a:off x="717176" y="1219200"/>
            <a:ext cx="1443318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A8757DA-A261-480F-9A8B-320CEF9435CA}"/>
              </a:ext>
            </a:extLst>
          </p:cNvPr>
          <p:cNvSpPr/>
          <p:nvPr/>
        </p:nvSpPr>
        <p:spPr>
          <a:xfrm>
            <a:off x="2353234" y="1219200"/>
            <a:ext cx="1443318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3F2A51D-11B3-43B4-B654-E7B1E20767EB}"/>
              </a:ext>
            </a:extLst>
          </p:cNvPr>
          <p:cNvSpPr/>
          <p:nvPr/>
        </p:nvSpPr>
        <p:spPr>
          <a:xfrm>
            <a:off x="3989292" y="1219200"/>
            <a:ext cx="1443318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08CA410-3770-48E4-A4B1-81D808FCC974}"/>
              </a:ext>
            </a:extLst>
          </p:cNvPr>
          <p:cNvSpPr/>
          <p:nvPr/>
        </p:nvSpPr>
        <p:spPr>
          <a:xfrm>
            <a:off x="5625350" y="1219200"/>
            <a:ext cx="1443318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291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E70CBED-F333-4556-BE70-62C074CDF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6" y="1399275"/>
            <a:ext cx="7475352" cy="507654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82FABB14-B6D8-490F-9EE7-3664B09F4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3937548"/>
            <a:ext cx="4303059" cy="189203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1D8374B-408B-4944-A0B6-21BD833E8598}"/>
              </a:ext>
            </a:extLst>
          </p:cNvPr>
          <p:cNvSpPr/>
          <p:nvPr/>
        </p:nvSpPr>
        <p:spPr>
          <a:xfrm>
            <a:off x="8005482" y="1397675"/>
            <a:ext cx="38279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12 colunas</a:t>
            </a:r>
          </a:p>
          <a:p>
            <a:r>
              <a:rPr lang="pt-BR" dirty="0"/>
              <a:t>3 áreas</a:t>
            </a:r>
          </a:p>
          <a:p>
            <a:endParaRPr lang="pt-BR" dirty="0"/>
          </a:p>
          <a:p>
            <a:r>
              <a:rPr lang="pt-BR" dirty="0"/>
              <a:t>? Colunas para cada área</a:t>
            </a:r>
          </a:p>
          <a:p>
            <a:endParaRPr lang="pt-BR" dirty="0"/>
          </a:p>
          <a:p>
            <a:r>
              <a:rPr lang="pt-BR" dirty="0"/>
              <a:t>12/3 = 4 colunas</a:t>
            </a:r>
          </a:p>
          <a:p>
            <a:endParaRPr lang="pt-BR" dirty="0"/>
          </a:p>
          <a:p>
            <a:endParaRPr lang="pt-BR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5855FEC0-16DF-49D2-982E-9FD012BF66F6}"/>
              </a:ext>
            </a:extLst>
          </p:cNvPr>
          <p:cNvGrpSpPr/>
          <p:nvPr/>
        </p:nvGrpSpPr>
        <p:grpSpPr>
          <a:xfrm>
            <a:off x="573741" y="986120"/>
            <a:ext cx="6320122" cy="313765"/>
            <a:chOff x="717176" y="376520"/>
            <a:chExt cx="6320122" cy="313765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A2799B99-5F23-4388-92C0-AA85929395C6}"/>
                </a:ext>
              </a:extLst>
            </p:cNvPr>
            <p:cNvSpPr/>
            <p:nvPr/>
          </p:nvSpPr>
          <p:spPr>
            <a:xfrm>
              <a:off x="717176" y="40341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DA114B92-020D-4C9D-A844-ED1560034C32}"/>
                </a:ext>
              </a:extLst>
            </p:cNvPr>
            <p:cNvSpPr/>
            <p:nvPr/>
          </p:nvSpPr>
          <p:spPr>
            <a:xfrm>
              <a:off x="1299882" y="394448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2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4C33B0DD-6BEA-41E5-B177-42ED87126BF8}"/>
                </a:ext>
              </a:extLst>
            </p:cNvPr>
            <p:cNvSpPr/>
            <p:nvPr/>
          </p:nvSpPr>
          <p:spPr>
            <a:xfrm>
              <a:off x="1810870" y="40341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3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D0BA001D-ABAB-4293-A05A-044394968C7B}"/>
                </a:ext>
              </a:extLst>
            </p:cNvPr>
            <p:cNvSpPr/>
            <p:nvPr/>
          </p:nvSpPr>
          <p:spPr>
            <a:xfrm>
              <a:off x="2393576" y="40341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4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5C6155A6-1996-49DA-83DB-E6ABD2B9EE62}"/>
                </a:ext>
              </a:extLst>
            </p:cNvPr>
            <p:cNvSpPr/>
            <p:nvPr/>
          </p:nvSpPr>
          <p:spPr>
            <a:xfrm>
              <a:off x="2904564" y="412379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5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2538020B-8360-457F-9A4E-474C02247952}"/>
                </a:ext>
              </a:extLst>
            </p:cNvPr>
            <p:cNvSpPr/>
            <p:nvPr/>
          </p:nvSpPr>
          <p:spPr>
            <a:xfrm>
              <a:off x="3473823" y="376520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6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A401E6D7-9BD1-4C2B-A4DD-63D492E1FE1E}"/>
                </a:ext>
              </a:extLst>
            </p:cNvPr>
            <p:cNvSpPr/>
            <p:nvPr/>
          </p:nvSpPr>
          <p:spPr>
            <a:xfrm>
              <a:off x="4031876" y="376523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7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D98EBC1C-BE73-457D-BA56-E0C1957C368D}"/>
                </a:ext>
              </a:extLst>
            </p:cNvPr>
            <p:cNvSpPr/>
            <p:nvPr/>
          </p:nvSpPr>
          <p:spPr>
            <a:xfrm>
              <a:off x="4563034" y="394448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8</a:t>
              </a: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6E40367A-CE83-4EDB-A512-0CC9A4A1A683}"/>
                </a:ext>
              </a:extLst>
            </p:cNvPr>
            <p:cNvSpPr/>
            <p:nvPr/>
          </p:nvSpPr>
          <p:spPr>
            <a:xfrm>
              <a:off x="5141258" y="394452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9</a:t>
              </a: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FC1AB3E-F164-46B9-85FA-45627F84EDDC}"/>
                </a:ext>
              </a:extLst>
            </p:cNvPr>
            <p:cNvSpPr/>
            <p:nvPr/>
          </p:nvSpPr>
          <p:spPr>
            <a:xfrm>
              <a:off x="5688106" y="376520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dirty="0"/>
                <a:t>10</a:t>
              </a: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33CEEF8D-34B6-4799-92FD-6FF59AC0A2D8}"/>
                </a:ext>
              </a:extLst>
            </p:cNvPr>
            <p:cNvSpPr/>
            <p:nvPr/>
          </p:nvSpPr>
          <p:spPr>
            <a:xfrm>
              <a:off x="6214783" y="376520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dirty="0"/>
                <a:t>11</a:t>
              </a: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93FE7638-1969-40A4-B522-FF8C2FE119B7}"/>
                </a:ext>
              </a:extLst>
            </p:cNvPr>
            <p:cNvSpPr/>
            <p:nvPr/>
          </p:nvSpPr>
          <p:spPr>
            <a:xfrm>
              <a:off x="6759392" y="412379"/>
              <a:ext cx="277906" cy="277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dirty="0"/>
                <a:t>12</a:t>
              </a: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33653F45-982F-4C4B-A264-316BE2C01AC2}"/>
              </a:ext>
            </a:extLst>
          </p:cNvPr>
          <p:cNvSpPr/>
          <p:nvPr/>
        </p:nvSpPr>
        <p:spPr>
          <a:xfrm>
            <a:off x="573741" y="1972235"/>
            <a:ext cx="2043953" cy="1380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9037C50-F25C-47A6-9D11-B7A135B8DE60}"/>
              </a:ext>
            </a:extLst>
          </p:cNvPr>
          <p:cNvSpPr/>
          <p:nvPr/>
        </p:nvSpPr>
        <p:spPr>
          <a:xfrm>
            <a:off x="2761129" y="1972234"/>
            <a:ext cx="2043953" cy="1380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0425BA2-B402-45A5-B8A8-8DC6E0B11419}"/>
              </a:ext>
            </a:extLst>
          </p:cNvPr>
          <p:cNvSpPr/>
          <p:nvPr/>
        </p:nvSpPr>
        <p:spPr>
          <a:xfrm>
            <a:off x="4948517" y="1972233"/>
            <a:ext cx="2043953" cy="1380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658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Site oficial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11200" y="1495425"/>
            <a:ext cx="10515600" cy="4351338"/>
          </a:xfrm>
        </p:spPr>
        <p:txBody>
          <a:bodyPr/>
          <a:lstStyle/>
          <a:p>
            <a:r>
              <a:rPr lang="pt-BR" dirty="0"/>
              <a:t>https://getbootstrap.com/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2004241"/>
            <a:ext cx="6864350" cy="4510859"/>
          </a:xfrm>
          <a:prstGeom prst="rect">
            <a:avLst/>
          </a:prstGeom>
        </p:spPr>
      </p:pic>
      <p:sp>
        <p:nvSpPr>
          <p:cNvPr id="5" name="Seta para a Esquerda 4"/>
          <p:cNvSpPr/>
          <p:nvPr/>
        </p:nvSpPr>
        <p:spPr>
          <a:xfrm>
            <a:off x="4292600" y="5929313"/>
            <a:ext cx="2679700" cy="9525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Faça Download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608" y="4983163"/>
            <a:ext cx="5647134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98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da pasta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Crie uma pasta (exemplo1) e copie para seu interior, as pastas CSS e JS, que foram baixadas anteriormente.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12" y="2779712"/>
            <a:ext cx="3697288" cy="307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04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Ligação do arquivo index.html com o arquivo CSS e JS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99DBB94-45A1-43D0-B91E-180752476B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111" r="36000" b="50000"/>
          <a:stretch/>
        </p:blipFill>
        <p:spPr>
          <a:xfrm>
            <a:off x="609600" y="2476500"/>
            <a:ext cx="8977682" cy="121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50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Navbar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D57FA7B-BC57-4D03-99B8-E6EF7A2A69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651" t="15084" r="28787" b="5324"/>
          <a:stretch/>
        </p:blipFill>
        <p:spPr>
          <a:xfrm>
            <a:off x="3027130" y="952701"/>
            <a:ext cx="5552657" cy="570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75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A6B1C5D-69C5-4697-8ACB-19E08F6A8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3968"/>
            <a:ext cx="12192000" cy="4030063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Navbar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7D91A71-F6CA-4ECA-B9AF-9D3415707364}"/>
              </a:ext>
            </a:extLst>
          </p:cNvPr>
          <p:cNvSpPr/>
          <p:nvPr/>
        </p:nvSpPr>
        <p:spPr>
          <a:xfrm>
            <a:off x="2785036" y="1500535"/>
            <a:ext cx="1565292" cy="242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A57CCE9-DE2E-4BC7-A469-7A7F973B5F06}"/>
              </a:ext>
            </a:extLst>
          </p:cNvPr>
          <p:cNvSpPr/>
          <p:nvPr/>
        </p:nvSpPr>
        <p:spPr>
          <a:xfrm>
            <a:off x="2676373" y="1829149"/>
            <a:ext cx="2976282" cy="242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39034C9-ACBA-48D7-A3BD-2876BC2A2577}"/>
              </a:ext>
            </a:extLst>
          </p:cNvPr>
          <p:cNvSpPr/>
          <p:nvPr/>
        </p:nvSpPr>
        <p:spPr>
          <a:xfrm>
            <a:off x="449785" y="3409610"/>
            <a:ext cx="5082797" cy="16334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9031B91-284A-46BC-9FD1-48D9F8080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66851"/>
            <a:ext cx="12192000" cy="102923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A01FCCE-8FE3-441B-9AED-28495541EA1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651" t="49621" r="28787" b="5324"/>
          <a:stretch/>
        </p:blipFill>
        <p:spPr>
          <a:xfrm>
            <a:off x="6278330" y="2425023"/>
            <a:ext cx="5552657" cy="323041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8EB1C13-345A-4E57-A3F0-BB72B16FFDB9}"/>
              </a:ext>
            </a:extLst>
          </p:cNvPr>
          <p:cNvSpPr txBox="1"/>
          <p:nvPr/>
        </p:nvSpPr>
        <p:spPr>
          <a:xfrm>
            <a:off x="4470400" y="120073"/>
            <a:ext cx="6345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Os itens destacados em vermelho foram modificados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8648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Carousel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44625"/>
            <a:ext cx="10515600" cy="4351338"/>
          </a:xfrm>
        </p:spPr>
        <p:txBody>
          <a:bodyPr/>
          <a:lstStyle/>
          <a:p>
            <a:r>
              <a:rPr lang="pt-BR" dirty="0"/>
              <a:t>Banner com imagens rotativas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312" y="1874838"/>
            <a:ext cx="73437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022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3900" y="95250"/>
            <a:ext cx="10515600" cy="1325563"/>
          </a:xfrm>
        </p:spPr>
        <p:txBody>
          <a:bodyPr>
            <a:normAutofit/>
          </a:bodyPr>
          <a:lstStyle/>
          <a:p>
            <a:r>
              <a:rPr lang="pt-BR" sz="3200" dirty="0"/>
              <a:t>Insira as imagens do Banner – com as mesmas dimensões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52" y="1179513"/>
            <a:ext cx="6891498" cy="5576888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854200" y="3302000"/>
            <a:ext cx="1104900" cy="17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1892300" y="3787775"/>
            <a:ext cx="1104900" cy="17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1873250" y="4254500"/>
            <a:ext cx="1104900" cy="17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236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8548" y="400843"/>
            <a:ext cx="10515600" cy="1325563"/>
          </a:xfrm>
        </p:spPr>
        <p:txBody>
          <a:bodyPr/>
          <a:lstStyle/>
          <a:p>
            <a:r>
              <a:rPr lang="pt-BR" dirty="0"/>
              <a:t>Seção de novidades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950" y="337294"/>
            <a:ext cx="4587461" cy="481103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50239"/>
            <a:ext cx="6304038" cy="89769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6419" y="5718768"/>
            <a:ext cx="6085581" cy="1079700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0" y="5659237"/>
            <a:ext cx="12192000" cy="119876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549" y="1770470"/>
            <a:ext cx="5325772" cy="2450656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530E27E4-8F24-417C-A9E6-2148F05AA10D}"/>
              </a:ext>
            </a:extLst>
          </p:cNvPr>
          <p:cNvCxnSpPr/>
          <p:nvPr/>
        </p:nvCxnSpPr>
        <p:spPr>
          <a:xfrm>
            <a:off x="3320716" y="3056021"/>
            <a:ext cx="0" cy="1612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51B687CD-9FD6-4732-9F8F-9183801CC4CD}"/>
              </a:ext>
            </a:extLst>
          </p:cNvPr>
          <p:cNvSpPr txBox="1"/>
          <p:nvPr/>
        </p:nvSpPr>
        <p:spPr>
          <a:xfrm>
            <a:off x="2640931" y="4731290"/>
            <a:ext cx="2388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Margem superior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FC5BF64-2BC7-420C-81DC-4471D415AA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9209" y="23084"/>
            <a:ext cx="3080915" cy="144754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6A7082B-C121-42E4-AD6B-71787AEE90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9209" y="1530156"/>
            <a:ext cx="297180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34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8799"/>
            <a:ext cx="1178242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32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521" y="10241"/>
            <a:ext cx="4765486" cy="1325563"/>
          </a:xfrm>
        </p:spPr>
        <p:txBody>
          <a:bodyPr>
            <a:normAutofit/>
          </a:bodyPr>
          <a:lstStyle/>
          <a:p>
            <a:r>
              <a:rPr lang="pt-BR" sz="3600" u="sng" dirty="0"/>
              <a:t>Novidades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27" y="2004587"/>
            <a:ext cx="2669275" cy="1163530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292289" y="3743325"/>
            <a:ext cx="881418" cy="1074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Col-sm-3</a:t>
            </a:r>
          </a:p>
        </p:txBody>
      </p:sp>
      <p:sp>
        <p:nvSpPr>
          <p:cNvPr id="8" name="Retângulo 7"/>
          <p:cNvSpPr/>
          <p:nvPr/>
        </p:nvSpPr>
        <p:spPr>
          <a:xfrm>
            <a:off x="1393777" y="3743325"/>
            <a:ext cx="881418" cy="1074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Col-sm-3</a:t>
            </a:r>
          </a:p>
        </p:txBody>
      </p:sp>
      <p:sp>
        <p:nvSpPr>
          <p:cNvPr id="9" name="Retângulo 8"/>
          <p:cNvSpPr/>
          <p:nvPr/>
        </p:nvSpPr>
        <p:spPr>
          <a:xfrm>
            <a:off x="2495265" y="3743325"/>
            <a:ext cx="881418" cy="1074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Col-sm-3</a:t>
            </a:r>
          </a:p>
        </p:txBody>
      </p:sp>
      <p:sp>
        <p:nvSpPr>
          <p:cNvPr id="10" name="Retângulo 9"/>
          <p:cNvSpPr/>
          <p:nvPr/>
        </p:nvSpPr>
        <p:spPr>
          <a:xfrm>
            <a:off x="3596753" y="3743325"/>
            <a:ext cx="881418" cy="1074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Col-sm-3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1965655" y="1558732"/>
            <a:ext cx="619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err="1"/>
              <a:t>css</a:t>
            </a:r>
            <a:endParaRPr lang="pt-BR" sz="2800" dirty="0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930" y="0"/>
            <a:ext cx="7644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99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6A8DFE64-318C-4CD6-ABF5-751083A59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8868"/>
            <a:ext cx="12192000" cy="572026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711" y="224741"/>
            <a:ext cx="2523699" cy="1325563"/>
          </a:xfrm>
        </p:spPr>
        <p:txBody>
          <a:bodyPr/>
          <a:lstStyle/>
          <a:p>
            <a:r>
              <a:rPr lang="pt-BR" dirty="0"/>
              <a:t>Produtos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F818ECA-4C61-4477-AEFA-6E547B76A8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9435" b="36641"/>
          <a:stretch/>
        </p:blipFill>
        <p:spPr>
          <a:xfrm>
            <a:off x="433457" y="6529045"/>
            <a:ext cx="6312738" cy="24938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4AF59E6-CFC4-4649-9638-7DB46D7C51F3}"/>
              </a:ext>
            </a:extLst>
          </p:cNvPr>
          <p:cNvSpPr txBox="1"/>
          <p:nvPr/>
        </p:nvSpPr>
        <p:spPr>
          <a:xfrm>
            <a:off x="203201" y="2333042"/>
            <a:ext cx="2133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Exercícios</a:t>
            </a:r>
          </a:p>
          <a:p>
            <a:r>
              <a:rPr lang="pt-BR" dirty="0"/>
              <a:t>Adicione as imagens dos produtos seguindo o modelo usado em novidades. Porém, agora deverão ser inseridos 3 produtos por linha.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ACE857-DFFB-4D0A-9FD7-338E5E005410}"/>
              </a:ext>
            </a:extLst>
          </p:cNvPr>
          <p:cNvSpPr txBox="1"/>
          <p:nvPr/>
        </p:nvSpPr>
        <p:spPr>
          <a:xfrm>
            <a:off x="6746195" y="6373091"/>
            <a:ext cx="483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Código usado para adicionar o botão comprar</a:t>
            </a:r>
          </a:p>
        </p:txBody>
      </p:sp>
    </p:spTree>
    <p:extLst>
      <p:ext uri="{BB962C8B-B14F-4D97-AF65-F5344CB8AC3E}">
        <p14:creationId xmlns:p14="http://schemas.microsoft.com/office/powerpoint/2010/main" val="696764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Seção de Localização</a:t>
            </a:r>
          </a:p>
        </p:txBody>
      </p:sp>
      <p:sp>
        <p:nvSpPr>
          <p:cNvPr id="4" name="Retângulo 3"/>
          <p:cNvSpPr/>
          <p:nvPr/>
        </p:nvSpPr>
        <p:spPr>
          <a:xfrm>
            <a:off x="2179832" y="4055607"/>
            <a:ext cx="1433015" cy="300250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F6024A6-7C05-4614-A6BD-D948860C3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73" y="1690688"/>
            <a:ext cx="11058525" cy="351472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00FEFBD-D454-4153-9915-2D370000D729}"/>
              </a:ext>
            </a:extLst>
          </p:cNvPr>
          <p:cNvSpPr txBox="1"/>
          <p:nvPr/>
        </p:nvSpPr>
        <p:spPr>
          <a:xfrm>
            <a:off x="914400" y="3686275"/>
            <a:ext cx="886069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Nesta área será inserido o código do mapa do local (que será obtido através do Google Maps)</a:t>
            </a:r>
          </a:p>
        </p:txBody>
      </p:sp>
    </p:spTree>
    <p:extLst>
      <p:ext uri="{BB962C8B-B14F-4D97-AF65-F5344CB8AC3E}">
        <p14:creationId xmlns:p14="http://schemas.microsoft.com/office/powerpoint/2010/main" val="1448461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Inserir o mapa de localização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89" y="2371583"/>
            <a:ext cx="3867150" cy="1104900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723189" y="1846469"/>
            <a:ext cx="3167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Localize o local no Google </a:t>
            </a:r>
            <a:r>
              <a:rPr lang="pt-BR" dirty="0" err="1"/>
              <a:t>Maps</a:t>
            </a:r>
            <a:endParaRPr lang="pt-BR" dirty="0"/>
          </a:p>
        </p:txBody>
      </p:sp>
      <p:sp>
        <p:nvSpPr>
          <p:cNvPr id="5" name="Seta para a Esquerda 4"/>
          <p:cNvSpPr/>
          <p:nvPr/>
        </p:nvSpPr>
        <p:spPr>
          <a:xfrm>
            <a:off x="4230806" y="2205565"/>
            <a:ext cx="1678675" cy="99941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0" y="4157378"/>
            <a:ext cx="6067425" cy="1466850"/>
          </a:xfrm>
          <a:prstGeom prst="rect">
            <a:avLst/>
          </a:prstGeom>
        </p:spPr>
      </p:pic>
      <p:sp>
        <p:nvSpPr>
          <p:cNvPr id="7" name="Seta para a Esquerda 6"/>
          <p:cNvSpPr/>
          <p:nvPr/>
        </p:nvSpPr>
        <p:spPr>
          <a:xfrm>
            <a:off x="3209498" y="4182784"/>
            <a:ext cx="1678675" cy="99941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8" name="Seta para a Esquerda 7"/>
          <p:cNvSpPr/>
          <p:nvPr/>
        </p:nvSpPr>
        <p:spPr>
          <a:xfrm>
            <a:off x="6652643" y="4822422"/>
            <a:ext cx="1678675" cy="99941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96A6F0A-0899-4F34-BB79-75E02C501873}"/>
              </a:ext>
            </a:extLst>
          </p:cNvPr>
          <p:cNvSpPr txBox="1"/>
          <p:nvPr/>
        </p:nvSpPr>
        <p:spPr>
          <a:xfrm>
            <a:off x="5627802" y="1690688"/>
            <a:ext cx="1971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Game Play Mococa</a:t>
            </a:r>
          </a:p>
        </p:txBody>
      </p:sp>
    </p:spTree>
    <p:extLst>
      <p:ext uri="{BB962C8B-B14F-4D97-AF65-F5344CB8AC3E}">
        <p14:creationId xmlns:p14="http://schemas.microsoft.com/office/powerpoint/2010/main" val="1213130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2" y="1937008"/>
            <a:ext cx="10444559" cy="3262313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Seção de Localização</a:t>
            </a:r>
          </a:p>
        </p:txBody>
      </p:sp>
      <p:sp>
        <p:nvSpPr>
          <p:cNvPr id="4" name="Retângulo 3"/>
          <p:cNvSpPr/>
          <p:nvPr/>
        </p:nvSpPr>
        <p:spPr>
          <a:xfrm>
            <a:off x="2179832" y="4055607"/>
            <a:ext cx="1433015" cy="300250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 para a Esquerda 7">
            <a:extLst>
              <a:ext uri="{FF2B5EF4-FFF2-40B4-BE49-F238E27FC236}">
                <a16:creationId xmlns:a16="http://schemas.microsoft.com/office/drawing/2014/main" id="{B0C22ADE-B9C7-4264-950A-6C68ECE77C15}"/>
              </a:ext>
            </a:extLst>
          </p:cNvPr>
          <p:cNvSpPr/>
          <p:nvPr/>
        </p:nvSpPr>
        <p:spPr>
          <a:xfrm>
            <a:off x="9940789" y="2873808"/>
            <a:ext cx="1955647" cy="178131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Cole aqui o código da localização</a:t>
            </a:r>
          </a:p>
        </p:txBody>
      </p:sp>
    </p:spTree>
    <p:extLst>
      <p:ext uri="{BB962C8B-B14F-4D97-AF65-F5344CB8AC3E}">
        <p14:creationId xmlns:p14="http://schemas.microsoft.com/office/powerpoint/2010/main" val="1258421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Criação da Seção de contato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88" y="1690688"/>
            <a:ext cx="9487693" cy="411468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F81FA7D-2A79-4335-B7CF-C47102B8C289}"/>
              </a:ext>
            </a:extLst>
          </p:cNvPr>
          <p:cNvSpPr/>
          <p:nvPr/>
        </p:nvSpPr>
        <p:spPr>
          <a:xfrm>
            <a:off x="484887" y="2927927"/>
            <a:ext cx="9453439" cy="21797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Nesta área será inserido o formulário com o campo de e-mail e mensagem</a:t>
            </a:r>
          </a:p>
        </p:txBody>
      </p:sp>
    </p:spTree>
    <p:extLst>
      <p:ext uri="{BB962C8B-B14F-4D97-AF65-F5344CB8AC3E}">
        <p14:creationId xmlns:p14="http://schemas.microsoft.com/office/powerpoint/2010/main" val="869856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Formulário de contato no </a:t>
            </a:r>
            <a:r>
              <a:rPr lang="pt-BR" dirty="0" err="1"/>
              <a:t>Bootstrap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389DFC-7438-4939-BB64-DA4946C61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2981"/>
            <a:ext cx="8131077" cy="5192655"/>
          </a:xfrm>
          <a:prstGeom prst="rect">
            <a:avLst/>
          </a:prstGeom>
        </p:spPr>
      </p:pic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FBDCC44C-E7A1-4114-AD0D-CEAB940B0647}"/>
              </a:ext>
            </a:extLst>
          </p:cNvPr>
          <p:cNvSpPr/>
          <p:nvPr/>
        </p:nvSpPr>
        <p:spPr>
          <a:xfrm>
            <a:off x="1311564" y="4169308"/>
            <a:ext cx="655782" cy="47105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8168BC0-D7DA-4E70-B914-6F8CBDC0CF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542" y="4383193"/>
            <a:ext cx="6691117" cy="238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358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Formulário de contato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88" y="1690688"/>
            <a:ext cx="9487693" cy="411468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A053CFB-7E34-4C8A-8B55-A6AEBDEE8367}"/>
              </a:ext>
            </a:extLst>
          </p:cNvPr>
          <p:cNvSpPr/>
          <p:nvPr/>
        </p:nvSpPr>
        <p:spPr>
          <a:xfrm>
            <a:off x="6687127" y="3075709"/>
            <a:ext cx="1791855" cy="353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CF83BEF-FA6C-4759-BB93-65094268C867}"/>
              </a:ext>
            </a:extLst>
          </p:cNvPr>
          <p:cNvSpPr/>
          <p:nvPr/>
        </p:nvSpPr>
        <p:spPr>
          <a:xfrm>
            <a:off x="6987309" y="4263897"/>
            <a:ext cx="2018146" cy="353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0DB1EAF-8460-4300-B0EA-A8B931110EF0}"/>
              </a:ext>
            </a:extLst>
          </p:cNvPr>
          <p:cNvSpPr txBox="1"/>
          <p:nvPr/>
        </p:nvSpPr>
        <p:spPr>
          <a:xfrm>
            <a:off x="6746195" y="6373091"/>
            <a:ext cx="483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Altere o texto em destaque</a:t>
            </a:r>
          </a:p>
        </p:txBody>
      </p:sp>
    </p:spTree>
    <p:extLst>
      <p:ext uri="{BB962C8B-B14F-4D97-AF65-F5344CB8AC3E}">
        <p14:creationId xmlns:p14="http://schemas.microsoft.com/office/powerpoint/2010/main" val="3417537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Rodapé - </a:t>
            </a:r>
            <a:r>
              <a:rPr lang="pt-BR" dirty="0" err="1"/>
              <a:t>Footer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6598"/>
            <a:ext cx="12182475" cy="123825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/>
          <a:srcRect b="21238"/>
          <a:stretch/>
        </p:blipFill>
        <p:spPr>
          <a:xfrm>
            <a:off x="217298" y="1690689"/>
            <a:ext cx="10756604" cy="1414462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68740" y="4121624"/>
            <a:ext cx="3603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Py</a:t>
            </a:r>
            <a:r>
              <a:rPr lang="pt-BR" dirty="0"/>
              <a:t>  - </a:t>
            </a:r>
            <a:r>
              <a:rPr lang="pt-BR" dirty="0" err="1"/>
              <a:t>padding</a:t>
            </a:r>
            <a:r>
              <a:rPr lang="pt-BR" dirty="0"/>
              <a:t> no eixo y</a:t>
            </a:r>
          </a:p>
          <a:p>
            <a:r>
              <a:rPr lang="pt-BR" dirty="0" err="1"/>
              <a:t>Mt</a:t>
            </a:r>
            <a:r>
              <a:rPr lang="pt-BR" dirty="0"/>
              <a:t> – margem top</a:t>
            </a:r>
          </a:p>
        </p:txBody>
      </p:sp>
    </p:spTree>
    <p:extLst>
      <p:ext uri="{BB962C8B-B14F-4D97-AF65-F5344CB8AC3E}">
        <p14:creationId xmlns:p14="http://schemas.microsoft.com/office/powerpoint/2010/main" val="3905242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2D951-42B5-454A-B5BB-4C1856F05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929420-C52C-4D25-B6D7-25D7A754C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487"/>
            <a:ext cx="10515600" cy="4351338"/>
          </a:xfrm>
        </p:spPr>
        <p:txBody>
          <a:bodyPr/>
          <a:lstStyle/>
          <a:p>
            <a:r>
              <a:rPr lang="pt-BR" dirty="0"/>
              <a:t>Crie um novo arquivo cadastro.html como o modelo abaixo: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E458732-FCF5-4C8A-B892-C48204993E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31" b="16923"/>
          <a:stretch/>
        </p:blipFill>
        <p:spPr>
          <a:xfrm>
            <a:off x="1406769" y="2119622"/>
            <a:ext cx="9566030" cy="4373253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DB4F7F7-D281-4E24-D15A-9ACC5912575C}"/>
              </a:ext>
            </a:extLst>
          </p:cNvPr>
          <p:cNvSpPr/>
          <p:nvPr/>
        </p:nvSpPr>
        <p:spPr>
          <a:xfrm>
            <a:off x="8001000" y="4951900"/>
            <a:ext cx="742950" cy="600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 ou N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53FF151-64EE-14D2-94EA-0D9C2D1084B0}"/>
              </a:ext>
            </a:extLst>
          </p:cNvPr>
          <p:cNvSpPr/>
          <p:nvPr/>
        </p:nvSpPr>
        <p:spPr>
          <a:xfrm>
            <a:off x="268530" y="4306247"/>
            <a:ext cx="1514475" cy="16849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Playstation 4</a:t>
            </a:r>
          </a:p>
          <a:p>
            <a:pPr algn="ctr"/>
            <a:r>
              <a:rPr lang="pt-BR" dirty="0"/>
              <a:t>Playstation 5</a:t>
            </a:r>
          </a:p>
          <a:p>
            <a:pPr algn="ctr"/>
            <a:r>
              <a:rPr lang="pt-BR" dirty="0"/>
              <a:t>Xbox </a:t>
            </a:r>
            <a:r>
              <a:rPr lang="pt-BR" dirty="0" err="1"/>
              <a:t>One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7963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013328-BC0D-1A9F-F7BB-91FF1AA92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FC050B-8991-C4AD-6B0B-F9ED90FBB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 ser usado este modelo de referência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5EBA0D-954B-E5FA-A89D-EFC8DB064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2194042"/>
            <a:ext cx="9869323" cy="446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312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482</Words>
  <Application>Microsoft Office PowerPoint</Application>
  <PresentationFormat>Widescreen</PresentationFormat>
  <Paragraphs>136</Paragraphs>
  <Slides>26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2" baseType="lpstr">
      <vt:lpstr>Arial</vt:lpstr>
      <vt:lpstr>Bodoni MT</vt:lpstr>
      <vt:lpstr>Britannic Bold</vt:lpstr>
      <vt:lpstr>Calibri</vt:lpstr>
      <vt:lpstr>Calibri Light</vt:lpstr>
      <vt:lpstr>Tema do Office</vt:lpstr>
      <vt:lpstr>Bootstrap</vt:lpstr>
      <vt:lpstr>Introdução</vt:lpstr>
      <vt:lpstr>Apresentação do PowerPoint</vt:lpstr>
      <vt:lpstr>Apresentação do PowerPoint</vt:lpstr>
      <vt:lpstr>Apresentação do PowerPoint</vt:lpstr>
      <vt:lpstr>Apresentação do PowerPoint</vt:lpstr>
      <vt:lpstr>Site oficial</vt:lpstr>
      <vt:lpstr>Estrutura da pasta</vt:lpstr>
      <vt:lpstr>Ligação do arquivo index.html com o arquivo CSS e JS</vt:lpstr>
      <vt:lpstr>Navbar</vt:lpstr>
      <vt:lpstr>Navbar</vt:lpstr>
      <vt:lpstr>Carousel</vt:lpstr>
      <vt:lpstr>Insira as imagens do Banner – com as mesmas dimensões</vt:lpstr>
      <vt:lpstr>Seção de novidades</vt:lpstr>
      <vt:lpstr>Apresentação do PowerPoint</vt:lpstr>
      <vt:lpstr>Novidades</vt:lpstr>
      <vt:lpstr>Produtos</vt:lpstr>
      <vt:lpstr>Seção de Localização</vt:lpstr>
      <vt:lpstr>Inserir o mapa de localização</vt:lpstr>
      <vt:lpstr>Seção de Localização</vt:lpstr>
      <vt:lpstr>Criação da Seção de contato</vt:lpstr>
      <vt:lpstr>Formulário de contato no Bootstrap</vt:lpstr>
      <vt:lpstr>Formulário de contato</vt:lpstr>
      <vt:lpstr>Rodapé - Footer</vt:lpstr>
      <vt:lpstr>Atividade</vt:lpstr>
      <vt:lpstr>Dica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</dc:title>
  <dc:creator>Servidor</dc:creator>
  <cp:lastModifiedBy>Etec</cp:lastModifiedBy>
  <cp:revision>114</cp:revision>
  <dcterms:created xsi:type="dcterms:W3CDTF">2022-10-27T12:14:47Z</dcterms:created>
  <dcterms:modified xsi:type="dcterms:W3CDTF">2026-08-14T18:37:52Z</dcterms:modified>
</cp:coreProperties>
</file>